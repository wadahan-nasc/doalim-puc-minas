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71" r:id="rId4"/>
    <p:sldId id="259" r:id="rId5"/>
    <p:sldId id="261" r:id="rId6"/>
    <p:sldId id="264" r:id="rId7"/>
    <p:sldId id="265" r:id="rId8"/>
    <p:sldId id="268" r:id="rId9"/>
    <p:sldId id="269" r:id="rId10"/>
    <p:sldId id="273" r:id="rId11"/>
    <p:sldId id="266" r:id="rId12"/>
    <p:sldId id="267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83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1e82c0f8a66a8247707b5f24f540da22.jpg"/>
          <p:cNvPicPr>
            <a:picLocks noChangeAspect="1"/>
          </p:cNvPicPr>
          <p:nvPr/>
        </p:nvPicPr>
        <p:blipFill>
          <a:blip r:embed="rId3"/>
          <a:srcRect l="22444" r="22444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6522415" cy="6858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669280" y="0"/>
            <a:ext cx="164592" cy="6858000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5833872" y="0"/>
            <a:ext cx="91440" cy="6858000"/>
          </a:xfrm>
          <a:prstGeom prst="rect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3093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FACULDADE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630936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quem doa a quem precisa.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309360" y="3703320"/>
            <a:ext cx="1371600" cy="0"/>
          </a:xfrm>
          <a:prstGeom prst="line">
            <a:avLst/>
          </a:prstGeom>
          <a:noFill/>
          <a:ln w="381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309360" y="3840480"/>
            <a:ext cx="5486400" cy="2011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 err="1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</a:t>
            </a:r>
            <a:r>
              <a:rPr lang="en-US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t-BR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 da Silva Nascimento</a:t>
            </a:r>
          </a:p>
          <a:p>
            <a:r>
              <a:rPr lang="pt-BR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Deivid Araujo Nascimento</a:t>
            </a:r>
          </a:p>
          <a:p>
            <a:r>
              <a:rPr lang="pt-BR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Medeiros de Aguiar</a:t>
            </a:r>
          </a:p>
          <a:p>
            <a:r>
              <a:rPr lang="pt-BR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Henrique Torquato Reis Leonardo</a:t>
            </a:r>
          </a:p>
          <a:p>
            <a:r>
              <a:rPr lang="pt-BR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Otávio Braga Tôrres</a:t>
            </a:r>
          </a:p>
          <a:p>
            <a:r>
              <a:rPr lang="pt-BR" sz="1500" dirty="0" err="1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Wadahan</a:t>
            </a:r>
            <a:r>
              <a:rPr lang="pt-BR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Nascimento</a:t>
            </a:r>
            <a:br>
              <a:rPr lang="en-US" sz="15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09360" y="5852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PROJETO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0936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Sistemas / Desenvolvimento Web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ca94be35fe1cc682ae45344154dd03db.jpg"/>
          <p:cNvPicPr>
            <a:picLocks noChangeAspect="1"/>
          </p:cNvPicPr>
          <p:nvPr/>
        </p:nvPicPr>
        <p:blipFill>
          <a:blip r:embed="rId3"/>
          <a:srcRect l="21408" r="21408"/>
          <a:stretch/>
        </p:blipFill>
        <p:spPr>
          <a:xfrm>
            <a:off x="6583680" y="0"/>
            <a:ext cx="5608015" cy="6537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CONTEXTO E OBJETIVO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Combater o desperdício 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quem precisa.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74320" y="2807210"/>
            <a:ext cx="6259068" cy="359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pt-BR" sz="1600" dirty="0"/>
              <a:t>       O objetivo geral deste projeto é estabelecer um ecossistema digital capaz de reduzir o desperdício de alimentos na fonte, especialmente nos comércios locais, e contribuir de forma direta para o combate à fome.</a:t>
            </a:r>
            <a:br>
              <a:rPr lang="pt-BR" sz="1600" dirty="0"/>
            </a:br>
            <a:endParaRPr lang="pt-BR" sz="1600" dirty="0"/>
          </a:p>
          <a:p>
            <a:r>
              <a:rPr lang="pt-BR" sz="1600" dirty="0"/>
              <a:t>Como objetivos específicos, podemos ressaltar:</a:t>
            </a:r>
            <a:br>
              <a:rPr lang="pt-BR" sz="1600" dirty="0"/>
            </a:br>
            <a:endParaRPr lang="pt-BR" sz="1600" dirty="0"/>
          </a:p>
          <a:p>
            <a:r>
              <a:rPr lang="pt-BR" sz="1600" dirty="0"/>
              <a:t>• otimizar a logística de doação e venda social, por meio de uma vitrine em tempo real para produtos que seriam descartados;</a:t>
            </a:r>
          </a:p>
          <a:p>
            <a:r>
              <a:rPr lang="pt-BR" sz="1600" dirty="0"/>
              <a:t>• reduzir o impacto ambiental, diminuindo o volume de resíduos orgânicos encaminhados para aterros e lixões, em consonância com a Política Nacional de Resíduos Sólidos;</a:t>
            </a:r>
          </a:p>
          <a:p>
            <a:r>
              <a:rPr lang="pt-BR" sz="1600" dirty="0"/>
              <a:t>• fomentar a responsabilidade social corporativa, incentivando os comerciantes a atuarem como agentes ativos no enfrentamento da insegurança alimentar.</a:t>
            </a:r>
          </a:p>
        </p:txBody>
      </p:sp>
      <p:sp>
        <p:nvSpPr>
          <p:cNvPr id="17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000" b="1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PERSONAS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vamos impactar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Doador PJ • dono de padaria, quer reduzir perdas sem se expor a riscos jurídicos.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1945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17720" y="246888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Gestora</a:t>
            </a: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Receptora PJ • coordena uma ONG com 50 famílias e tem pouco tempo para buscar doadores.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1945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412480" y="246888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técnico • garante a segurança da plataforma e a integridade dos cadastros.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Cidadã</a:t>
            </a: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Consciente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Doadora PF • compra em excesso, mas não sabe a quem doar perto de casa.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1148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617720" y="438912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1772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Chefe</a:t>
            </a: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Família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177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PF • sustenta 3 filhos e precisa de um app leve, simples e discreto.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000" b="1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FUNCIONALIDADES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site oferece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doadores e ONGs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Doadores, restaurantes e organizações criam contas com perfis distintos.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1945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17720" y="246888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de doações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Doadores publicam o que têm disponível, quantidade, validade e localização.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1945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412480" y="246888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proximidade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ONGs e famílias filtram doações próximas e disponíveis em tempo real.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retirada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e horário direto pela plataforma, sem precisar de telefone.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1148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617720" y="438912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1772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impacto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177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quantos quilos foram doados e pessoas atendidas pela rede.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41148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8412480" y="4389120"/>
            <a:ext cx="640080" cy="640080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4124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0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1248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Moderação de cadastros, denúncias e relatórios gerenciais.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000" b="1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TELAS DO 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site se apresenta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2025373"/>
            <a:ext cx="11094720" cy="4267215"/>
          </a:xfrm>
          <a:prstGeom prst="rect">
            <a:avLst/>
          </a:prstGeom>
          <a:solidFill>
            <a:srgbClr val="FFFFFF"/>
          </a:solidFill>
          <a:ln w="25400">
            <a:solidFill>
              <a:srgbClr val="8DC63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2025373"/>
            <a:ext cx="11094720" cy="300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2093077"/>
            <a:ext cx="164592" cy="16459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14400" y="2093077"/>
            <a:ext cx="164592" cy="164592"/>
          </a:xfrm>
          <a:prstGeom prst="ellipse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43000" y="2093077"/>
            <a:ext cx="164592" cy="164592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63040" y="2100373"/>
            <a:ext cx="5852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doalim.com.br 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000" b="1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C04DC4D-EFD6-B3E0-4A96-9234C6925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123" y="2343661"/>
            <a:ext cx="8177754" cy="39038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TELAS DO 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usuário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758733" y="1880000"/>
            <a:ext cx="4674535" cy="4557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DC63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758733" y="1880000"/>
            <a:ext cx="4674535" cy="300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895893" y="1947704"/>
            <a:ext cx="164592" cy="16459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124493" y="1947704"/>
            <a:ext cx="164592" cy="164592"/>
          </a:xfrm>
          <a:prstGeom prst="ellipse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353093" y="1947704"/>
            <a:ext cx="164592" cy="164592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73133" y="1955000"/>
            <a:ext cx="5852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doalim.com.br 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057A473D-BD30-8CBD-BEE2-5A93A56A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868" y="2220000"/>
            <a:ext cx="4548265" cy="4187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TELAS DO 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do administrador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650975" y="1880000"/>
            <a:ext cx="8890050" cy="4557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DC63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650975" y="1880000"/>
            <a:ext cx="8890050" cy="300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788135" y="1947704"/>
            <a:ext cx="164592" cy="16459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016735" y="1947704"/>
            <a:ext cx="164592" cy="164592"/>
          </a:xfrm>
          <a:prstGeom prst="ellipse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245335" y="1947704"/>
            <a:ext cx="164592" cy="164592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565375" y="1955000"/>
            <a:ext cx="5852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doalim.com.br 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C0A3B992-CC87-9785-25C9-AFCDA231F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110" y="2220000"/>
            <a:ext cx="8763780" cy="4187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TELAS DO 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dos alimentos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2025373"/>
            <a:ext cx="11094720" cy="4267215"/>
          </a:xfrm>
          <a:prstGeom prst="rect">
            <a:avLst/>
          </a:prstGeom>
          <a:solidFill>
            <a:srgbClr val="FFFFFF"/>
          </a:solidFill>
          <a:ln w="25400">
            <a:solidFill>
              <a:srgbClr val="8DC63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2025373"/>
            <a:ext cx="11094720" cy="300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2093077"/>
            <a:ext cx="164592" cy="16459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14400" y="2093077"/>
            <a:ext cx="164592" cy="164592"/>
          </a:xfrm>
          <a:prstGeom prst="ellipse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43000" y="2093077"/>
            <a:ext cx="164592" cy="164592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63040" y="2100373"/>
            <a:ext cx="5852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doalim.com.br 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/>
          </a:p>
        </p:txBody>
      </p:sp>
      <p:pic>
        <p:nvPicPr>
          <p:cNvPr id="30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75" y="2365373"/>
            <a:ext cx="10968450" cy="3897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TELAS DO 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 reservas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646139" y="1880000"/>
            <a:ext cx="8899723" cy="4557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DC63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646139" y="1880000"/>
            <a:ext cx="8899723" cy="300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783299" y="1947704"/>
            <a:ext cx="164592" cy="16459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011899" y="1947704"/>
            <a:ext cx="164592" cy="164592"/>
          </a:xfrm>
          <a:prstGeom prst="ellipse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240499" y="1947704"/>
            <a:ext cx="164592" cy="164592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560539" y="1955000"/>
            <a:ext cx="5852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doalim.com.br 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/>
          </a:p>
        </p:txBody>
      </p:sp>
      <p:pic>
        <p:nvPicPr>
          <p:cNvPr id="30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274" y="2220000"/>
            <a:ext cx="8773453" cy="4187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7FDC8-463E-1EDA-3705-432DE809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3DC955-98D7-506C-DA4E-F7699E1F76F5}"/>
              </a:ext>
            </a:extLst>
          </p:cNvPr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98FCCF-1330-12A9-D17B-313DA6B3A935}"/>
              </a:ext>
            </a:extLst>
          </p:cNvPr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TELAS DO SITE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FA2C4E1-1BAE-2219-0EE9-6861AF3F0C81}"/>
              </a:ext>
            </a:extLst>
          </p:cNvPr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r>
              <a:rPr lang="en-US" sz="36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3600" b="1" dirty="0" err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960D44-F522-617F-D6BC-0068539CA05C}"/>
              </a:ext>
            </a:extLst>
          </p:cNvPr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81CF4CC-E8BB-128F-3A48-482C5571CD8D}"/>
              </a:ext>
            </a:extLst>
          </p:cNvPr>
          <p:cNvSpPr/>
          <p:nvPr/>
        </p:nvSpPr>
        <p:spPr>
          <a:xfrm>
            <a:off x="1646139" y="1880000"/>
            <a:ext cx="8899723" cy="4557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DC63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DF32A04-8AA0-34E9-F246-65D286324177}"/>
              </a:ext>
            </a:extLst>
          </p:cNvPr>
          <p:cNvSpPr/>
          <p:nvPr/>
        </p:nvSpPr>
        <p:spPr>
          <a:xfrm>
            <a:off x="1646139" y="1880000"/>
            <a:ext cx="8899723" cy="300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9687077-5325-1914-0A9F-51D65FA3F74A}"/>
              </a:ext>
            </a:extLst>
          </p:cNvPr>
          <p:cNvSpPr/>
          <p:nvPr/>
        </p:nvSpPr>
        <p:spPr>
          <a:xfrm>
            <a:off x="1783299" y="1947704"/>
            <a:ext cx="164592" cy="16459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133C026-4C8E-9FE6-8FB2-6A0EAFBAF0C9}"/>
              </a:ext>
            </a:extLst>
          </p:cNvPr>
          <p:cNvSpPr/>
          <p:nvPr/>
        </p:nvSpPr>
        <p:spPr>
          <a:xfrm>
            <a:off x="2011899" y="1947704"/>
            <a:ext cx="164592" cy="164592"/>
          </a:xfrm>
          <a:prstGeom prst="ellipse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D1E59C8-9924-A763-498A-040DB063C2AA}"/>
              </a:ext>
            </a:extLst>
          </p:cNvPr>
          <p:cNvSpPr/>
          <p:nvPr/>
        </p:nvSpPr>
        <p:spPr>
          <a:xfrm>
            <a:off x="2240499" y="1947704"/>
            <a:ext cx="164592" cy="164592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8DB6042-993E-E935-F33E-D91AD1E5173F}"/>
              </a:ext>
            </a:extLst>
          </p:cNvPr>
          <p:cNvSpPr/>
          <p:nvPr/>
        </p:nvSpPr>
        <p:spPr>
          <a:xfrm>
            <a:off x="2560539" y="1955000"/>
            <a:ext cx="5852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doalim.com.br </a:t>
            </a:r>
            <a:endParaRPr lang="en-US" sz="10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3454E82-94B1-4FC1-1DDB-98AA0BFC2BC7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A9E5991-1E2C-7635-1031-60D8D1C8EE1A}"/>
              </a:ext>
            </a:extLst>
          </p:cNvPr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092B630-00A0-5263-B653-F16746269BBB}"/>
              </a:ext>
            </a:extLst>
          </p:cNvPr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8D76AD1-F302-D95F-0CFF-59D190AE5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57" y="2189144"/>
            <a:ext cx="8788580" cy="419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80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TELAS DO 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produtos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2413195"/>
            <a:ext cx="11094720" cy="3491569"/>
          </a:xfrm>
          <a:prstGeom prst="rect">
            <a:avLst/>
          </a:prstGeom>
          <a:solidFill>
            <a:srgbClr val="FFFFFF"/>
          </a:solidFill>
          <a:ln w="25400">
            <a:solidFill>
              <a:srgbClr val="8DC63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2413195"/>
            <a:ext cx="11094720" cy="300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2480899"/>
            <a:ext cx="164592" cy="16459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14400" y="2480899"/>
            <a:ext cx="164592" cy="164592"/>
          </a:xfrm>
          <a:prstGeom prst="ellipse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43000" y="2480899"/>
            <a:ext cx="164592" cy="164592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63040" y="2488195"/>
            <a:ext cx="5852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doalim.com.br 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/>
          </a:p>
        </p:txBody>
      </p:sp>
      <p:pic>
        <p:nvPicPr>
          <p:cNvPr id="30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75" y="2753195"/>
            <a:ext cx="10968450" cy="31215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" cy="3657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•  TELAS DO 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doações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0"/>
          </a:xfrm>
          <a:prstGeom prst="line">
            <a:avLst/>
          </a:prstGeom>
          <a:noFill/>
          <a:ln w="508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645919" y="1880000"/>
            <a:ext cx="8900162" cy="4557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DC63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645919" y="1880000"/>
            <a:ext cx="8900162" cy="30000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783079" y="1947704"/>
            <a:ext cx="164592" cy="16459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011679" y="1947704"/>
            <a:ext cx="164592" cy="164592"/>
          </a:xfrm>
          <a:prstGeom prst="ellipse">
            <a:avLst/>
          </a:prstGeom>
          <a:solidFill>
            <a:srgbClr val="F9B234"/>
          </a:solidFill>
          <a:ln w="12700">
            <a:solidFill>
              <a:srgbClr val="F9B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240279" y="1947704"/>
            <a:ext cx="164592" cy="164592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560319" y="1955000"/>
            <a:ext cx="5852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doalim.com.br 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/>
          </a:p>
        </p:txBody>
      </p:sp>
      <p:pic>
        <p:nvPicPr>
          <p:cNvPr id="30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54" y="2220000"/>
            <a:ext cx="8773892" cy="4187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4915026f3a2595ff0b911de780f83177.jp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17">
              <a:alpha val="85000"/>
            </a:srgbClr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2286000" y="1645920"/>
            <a:ext cx="7589520" cy="356616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/>
            </a:solidFill>
            <a:prstDash val="solid"/>
          </a:ln>
          <a:effectLst>
            <a:outerShdw blurRad="2032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2286000" y="1645920"/>
            <a:ext cx="7589520" cy="16459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2286000" y="201168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E4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2286000" y="32461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transformar o que sobra em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3A7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para quem precisa.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0" y="4297680"/>
            <a:ext cx="1188720" cy="0"/>
          </a:xfrm>
          <a:prstGeom prst="line">
            <a:avLst/>
          </a:prstGeom>
          <a:noFill/>
          <a:ln w="381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117"/>
          </a:solidFill>
          <a:ln w="12700">
            <a:solidFill>
              <a:srgbClr val="1E41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 •  Site de Doação de Alimentos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56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r>
              <a:rPr lang="en-US" sz="1000" b="1" dirty="0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000" b="1">
                <a:solidFill>
                  <a:srgbClr val="F9B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638</Words>
  <Application>Microsoft Office PowerPoint</Application>
  <PresentationFormat>Widescreen</PresentationFormat>
  <Paragraphs>112</Paragraphs>
  <Slides>13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Tôrres</dc:creator>
  <cp:lastModifiedBy>Victor Tôrres</cp:lastModifiedBy>
  <cp:revision>4</cp:revision>
  <dcterms:created xsi:type="dcterms:W3CDTF">2026-06-10T23:23:19Z</dcterms:created>
  <dcterms:modified xsi:type="dcterms:W3CDTF">2026-06-17T23:16:14Z</dcterms:modified>
</cp:coreProperties>
</file>